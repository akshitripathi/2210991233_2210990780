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14"/>
  </p:notesMasterIdLst>
  <p:handoutMasterIdLst>
    <p:handoutMasterId r:id="rId15"/>
  </p:handoutMasterIdLst>
  <p:sldIdLst>
    <p:sldId id="256" r:id="rId5"/>
    <p:sldId id="257" r:id="rId6"/>
    <p:sldId id="269" r:id="rId7"/>
    <p:sldId id="270" r:id="rId8"/>
    <p:sldId id="271" r:id="rId9"/>
    <p:sldId id="272" r:id="rId10"/>
    <p:sldId id="273" r:id="rId11"/>
    <p:sldId id="274" r:id="rId12"/>
    <p:sldId id="268" r:id="rId13"/>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B2E2"/>
    <a:srgbClr val="2A66AC"/>
    <a:srgbClr val="75A4DD"/>
    <a:srgbClr val="2E6CB8"/>
    <a:srgbClr val="2A65AC"/>
    <a:srgbClr val="255997"/>
    <a:srgbClr val="3379CD"/>
    <a:srgbClr val="558ED5"/>
    <a:srgbClr val="78A6DE"/>
    <a:srgbClr val="9DBE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875"/>
    <p:restoredTop sz="94658"/>
  </p:normalViewPr>
  <p:slideViewPr>
    <p:cSldViewPr snapToGrid="0">
      <p:cViewPr varScale="1">
        <p:scale>
          <a:sx n="99" d="100"/>
          <a:sy n="99" d="100"/>
        </p:scale>
        <p:origin x="168" y="63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607C9A-EDB5-4C0A-BCFE-81AAF6133E68}"/>
              </a:ext>
            </a:extLst>
          </p:cNvPr>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4F00B0C-2831-4624-A5D3-43F42D30BA74}"/>
              </a:ext>
            </a:extLst>
          </p:cNvPr>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pPr/>
              <a:t>4/30/26</a:t>
            </a:fld>
            <a:endParaRPr lang="en-US"/>
          </a:p>
        </p:txBody>
      </p:sp>
      <p:sp>
        <p:nvSpPr>
          <p:cNvPr id="4" name="Footer Placeholder 3">
            <a:extLst>
              <a:ext uri="{FF2B5EF4-FFF2-40B4-BE49-F238E27FC236}">
                <a16:creationId xmlns:a16="http://schemas.microsoft.com/office/drawing/2014/main" id="{B334ABA9-0C2F-480A-B554-A457296C39B5}"/>
              </a:ext>
            </a:extLst>
          </p:cNvPr>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5" name="Slide Number Placeholder 4">
            <a:extLst>
              <a:ext uri="{FF2B5EF4-FFF2-40B4-BE49-F238E27FC236}">
                <a16:creationId xmlns:a16="http://schemas.microsoft.com/office/drawing/2014/main" id="{46F3BA01-5457-4975-8BF5-D0EAD49D534B}"/>
              </a:ext>
            </a:extLst>
          </p:cNvPr>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pPr/>
              <a:t>‹#›</a:t>
            </a:fld>
            <a:endParaRPr lang="en-US"/>
          </a:p>
        </p:txBody>
      </p:sp>
    </p:spTree>
    <p:extLst>
      <p:ext uri="{BB962C8B-B14F-4D97-AF65-F5344CB8AC3E}">
        <p14:creationId xmlns:p14="http://schemas.microsoft.com/office/powerpoint/2010/main" val="412300227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8BC1CF-45D5-4DEE-AAB8-8C5341844FC9}" type="datetimeFigureOut">
              <a:rPr lang="en-US" smtClean="0"/>
              <a:pPr/>
              <a:t>4/30/26</a:t>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5A7523A-12D4-4E0F-9409-B3F845B48333}" type="slidenum">
              <a:rPr lang="en-US" smtClean="0"/>
              <a:pPr/>
              <a:t>‹#›</a:t>
            </a:fld>
            <a:endParaRPr lang="en-US"/>
          </a:p>
        </p:txBody>
      </p:sp>
    </p:spTree>
    <p:extLst>
      <p:ext uri="{BB962C8B-B14F-4D97-AF65-F5344CB8AC3E}">
        <p14:creationId xmlns:p14="http://schemas.microsoft.com/office/powerpoint/2010/main" val="345812222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A7523A-12D4-4E0F-9409-B3F845B48333}" type="slidenum">
              <a:rPr lang="en-US" smtClean="0"/>
              <a:pPr/>
              <a:t>1</a:t>
            </a:fld>
            <a:endParaRPr lang="en-US"/>
          </a:p>
        </p:txBody>
      </p:sp>
      <p:sp>
        <p:nvSpPr>
          <p:cNvPr id="5" name="Footer Placeholder 4">
            <a:extLst>
              <a:ext uri="{FF2B5EF4-FFF2-40B4-BE49-F238E27FC236}">
                <a16:creationId xmlns:a16="http://schemas.microsoft.com/office/drawing/2014/main" id="{A599BB95-9755-4BC6-8051-C2B8CF54F2A1}"/>
              </a:ext>
            </a:extLst>
          </p:cNvPr>
          <p:cNvSpPr>
            <a:spLocks noGrp="1"/>
          </p:cNvSpPr>
          <p:nvPr>
            <p:ph type="ftr" sz="quarter" idx="4"/>
          </p:nvPr>
        </p:nvSpPr>
        <p:spPr/>
        <p:txBody>
          <a:bodyPr/>
          <a:lstStyle/>
          <a:p>
            <a:r>
              <a:rPr lang="en-US"/>
              <a:t>Name of the faculty [Group: G00] [Sem:2nd]</a:t>
            </a:r>
          </a:p>
        </p:txBody>
      </p:sp>
    </p:spTree>
    <p:extLst>
      <p:ext uri="{BB962C8B-B14F-4D97-AF65-F5344CB8AC3E}">
        <p14:creationId xmlns:p14="http://schemas.microsoft.com/office/powerpoint/2010/main" val="42548747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GB" sz="3200" b="0" strike="noStrike" spc="-1" dirty="0">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endParaRPr lang="en-US"/>
          </a:p>
        </p:txBody>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txBody>
          <a:bodyPr/>
          <a:lstStyle/>
          <a:p>
            <a:endParaRPr lang="en-US"/>
          </a:p>
        </p:txBody>
      </p:sp>
      <p:pic>
        <p:nvPicPr>
          <p:cNvPr id="2" name="Picture 10" descr="LOGO.gif"/>
          <p:cNvPicPr/>
          <p:nvPr/>
        </p:nvPicPr>
        <p:blipFill>
          <a:blip r:embed="rId14"/>
          <a:srcRect b="10718"/>
          <a:stretch/>
        </p:blipFill>
        <p:spPr>
          <a:xfrm>
            <a:off x="6553080" y="228600"/>
            <a:ext cx="2057040" cy="634680"/>
          </a:xfrm>
          <a:prstGeom prst="rect">
            <a:avLst/>
          </a:prstGeom>
          <a:ln w="9360">
            <a:noFill/>
          </a:ln>
        </p:spPr>
      </p:pic>
      <p:pic>
        <p:nvPicPr>
          <p:cNvPr id="3" name="Picture 10" descr="LOGO.gif"/>
          <p:cNvPicPr/>
          <p:nvPr/>
        </p:nvPicPr>
        <p:blipFill>
          <a:blip r:embed="rId14"/>
          <a:srcRect b="10718"/>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endParaRPr lang="en-US"/>
            </a:p>
          </p:txBody>
        </p:sp>
        <p:pic>
          <p:nvPicPr>
            <p:cNvPr id="6" name="Picture 9" descr="LOGO.gif"/>
            <p:cNvPicPr/>
            <p:nvPr/>
          </p:nvPicPr>
          <p:blipFill>
            <a:blip r:embed="rId14"/>
            <a:srcRect b="10718"/>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US"/>
            </a:p>
          </p:txBody>
        </p:sp>
      </p:grpSp>
      <p:pic>
        <p:nvPicPr>
          <p:cNvPr id="8" name="Picture 15" descr="logo.jpg"/>
          <p:cNvPicPr/>
          <p:nvPr/>
        </p:nvPicPr>
        <p:blipFill>
          <a:blip r:embed="rId15"/>
          <a:stretch/>
        </p:blipFill>
        <p:spPr>
          <a:xfrm>
            <a:off x="6553080" y="228600"/>
            <a:ext cx="1920600" cy="609120"/>
          </a:xfrm>
          <a:prstGeom prst="rect">
            <a:avLst/>
          </a:prstGeom>
          <a:ln w="9360">
            <a:noFill/>
          </a:ln>
        </p:spPr>
      </p:pic>
      <p:pic>
        <p:nvPicPr>
          <p:cNvPr id="9" name="Picture 10" descr="LOGO.gif"/>
          <p:cNvPicPr/>
          <p:nvPr/>
        </p:nvPicPr>
        <p:blipFill>
          <a:blip r:embed="rId14"/>
          <a:srcRect b="10718"/>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endParaRPr lang="en-US"/>
            </a:p>
          </p:txBody>
        </p:sp>
        <p:pic>
          <p:nvPicPr>
            <p:cNvPr id="12" name="Picture 9" descr="LOGO.gif"/>
            <p:cNvPicPr/>
            <p:nvPr/>
          </p:nvPicPr>
          <p:blipFill>
            <a:blip r:embed="rId14"/>
            <a:srcRect b="10718"/>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US"/>
            </a:p>
          </p:txBody>
        </p:sp>
      </p:grpSp>
      <p:pic>
        <p:nvPicPr>
          <p:cNvPr id="14" name="Picture 15" descr="logo.jpg"/>
          <p:cNvPicPr/>
          <p:nvPr/>
        </p:nvPicPr>
        <p:blipFill>
          <a:blip r:embed="rId15"/>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dirty="0">
                <a:solidFill>
                  <a:srgbClr val="000000"/>
                </a:solidFill>
                <a:latin typeface="Calibri"/>
                <a:ea typeface="MS PGothic"/>
              </a:rPr>
              <a:t>Click to edit Master title style</a:t>
            </a:r>
            <a:endParaRPr lang="en-US" sz="3000" b="0" strike="noStrike" spc="-1" dirty="0">
              <a:solidFill>
                <a:srgbClr val="000000"/>
              </a:solidFill>
              <a:latin typeface="Arial"/>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en-US" sz="3200" b="0" strike="noStrike" spc="-1" dirty="0">
                <a:solidFill>
                  <a:srgbClr val="000000"/>
                </a:solidFill>
                <a:latin typeface="Calibri"/>
                <a:ea typeface="MS PGothic"/>
              </a:rPr>
              <a:t>Click to edit Master text styles</a:t>
            </a:r>
            <a:endParaRPr lang="en-US" sz="3200" b="0" strike="noStrike" spc="-1" dirty="0">
              <a:solidFill>
                <a:srgbClr val="000000"/>
              </a:solidFill>
              <a:latin typeface="Calibri"/>
            </a:endParaRPr>
          </a:p>
          <a:p>
            <a:pPr marL="743040" lvl="1" indent="-285480">
              <a:lnSpc>
                <a:spcPct val="100000"/>
              </a:lnSpc>
              <a:spcBef>
                <a:spcPts val="561"/>
              </a:spcBef>
              <a:buClr>
                <a:srgbClr val="000000"/>
              </a:buClr>
              <a:buFont typeface="Arial"/>
              <a:buChar char="–"/>
            </a:pPr>
            <a:r>
              <a:rPr lang="en-US" sz="2800" b="0" strike="noStrike" spc="-1" dirty="0">
                <a:solidFill>
                  <a:srgbClr val="000000"/>
                </a:solidFill>
                <a:latin typeface="Calibri"/>
                <a:ea typeface="MS PGothic"/>
              </a:rPr>
              <a:t>Second level</a:t>
            </a:r>
            <a:endParaRPr lang="en-US" sz="2800" b="0" strike="noStrike" spc="-1" dirty="0">
              <a:solidFill>
                <a:srgbClr val="000000"/>
              </a:solidFill>
              <a:latin typeface="Calibri"/>
            </a:endParaRPr>
          </a:p>
          <a:p>
            <a:pPr marL="1143000" lvl="2" indent="-228240">
              <a:lnSpc>
                <a:spcPct val="100000"/>
              </a:lnSpc>
              <a:spcBef>
                <a:spcPts val="479"/>
              </a:spcBef>
              <a:buClr>
                <a:srgbClr val="000000"/>
              </a:buClr>
              <a:buFont typeface="Arial"/>
              <a:buChar char="•"/>
            </a:pPr>
            <a:r>
              <a:rPr lang="en-US" sz="2400" b="0" strike="noStrike" spc="-1" dirty="0">
                <a:solidFill>
                  <a:srgbClr val="000000"/>
                </a:solidFill>
                <a:latin typeface="Calibri"/>
                <a:ea typeface="MS PGothic"/>
              </a:rPr>
              <a:t>Third level</a:t>
            </a:r>
            <a:endParaRPr lang="en-US" sz="2400" b="0" strike="noStrike" spc="-1" dirty="0">
              <a:solidFill>
                <a:srgbClr val="000000"/>
              </a:solidFill>
              <a:latin typeface="Calibri"/>
            </a:endParaRPr>
          </a:p>
          <a:p>
            <a:pPr marL="1600200" lvl="3"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Fourth level</a:t>
            </a:r>
            <a:endParaRPr lang="en-US" sz="2000" b="0" strike="noStrike" spc="-1" dirty="0">
              <a:solidFill>
                <a:srgbClr val="000000"/>
              </a:solidFill>
              <a:latin typeface="Calibri"/>
            </a:endParaRPr>
          </a:p>
          <a:p>
            <a:pPr marL="2057400" lvl="4"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Fifth level</a:t>
            </a:r>
            <a:endParaRPr lang="en-US" sz="2000" b="0" strike="noStrike" spc="-1" dirty="0">
              <a:solidFill>
                <a:srgbClr val="000000"/>
              </a:solidFill>
              <a:latin typeface="Calibri"/>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endParaRPr lang="en-GB" sz="1200" b="0" strike="noStrike" spc="-1">
              <a:latin typeface="Times New Roman"/>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r>
              <a:rPr lang="en-GB" sz="2400" b="0" strike="noStrike" spc="-1">
                <a:latin typeface="Times New Roman"/>
              </a:rPr>
              <a:t>Name</a:t>
            </a: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1CFDC92E-FF5D-4613-8499-B15BC16E50D9}" type="slidenum">
              <a:rPr lang="en-US" sz="1200" b="0" strike="noStrike" spc="-1">
                <a:solidFill>
                  <a:srgbClr val="898989"/>
                </a:solidFill>
                <a:latin typeface="Calibri"/>
                <a:ea typeface="MS PGothic"/>
              </a:rPr>
              <a:pPr algn="r">
                <a:lnSpc>
                  <a:spcPct val="100000"/>
                </a:lnSpc>
              </a:pPr>
              <a:t>‹#›</a:t>
            </a:fld>
            <a:endParaRPr lang="en-GB"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0" y="840631"/>
            <a:ext cx="9144000" cy="5377289"/>
          </a:xfrm>
          <a:prstGeom prst="rect">
            <a:avLst/>
          </a:prstGeom>
          <a:noFill/>
          <a:ln w="9360">
            <a:noFill/>
          </a:ln>
        </p:spPr>
        <p:txBody>
          <a:bodyPr>
            <a:noAutofit/>
          </a:bodyPr>
          <a:lstStyle/>
          <a:p>
            <a:pPr algn="ctr">
              <a:lnSpc>
                <a:spcPct val="100000"/>
              </a:lnSpc>
              <a:spcBef>
                <a:spcPts val="400"/>
              </a:spcBef>
            </a:pPr>
            <a:r>
              <a:rPr lang="en-IN" b="1" dirty="0">
                <a:latin typeface="Times New Roman" panose="02020603050405020304" pitchFamily="18" charset="0"/>
                <a:ea typeface="Calibri" panose="020F0502020204030204" pitchFamily="34" charset="0"/>
                <a:cs typeface="Times New Roman" panose="02020603050405020304" pitchFamily="18" charset="0"/>
              </a:rPr>
              <a:t>Project Presentation of </a:t>
            </a:r>
            <a:r>
              <a:rPr lang="en-US" b="1" dirty="0">
                <a:latin typeface="Times New Roman" panose="02020603050405020304" pitchFamily="18" charset="0"/>
                <a:ea typeface="Calibri" panose="020F0502020204030204" pitchFamily="34" charset="0"/>
                <a:cs typeface="Times New Roman" panose="02020603050405020304" pitchFamily="18" charset="0"/>
              </a:rPr>
              <a:t>CO-OP Project at Industry (Module-2) </a:t>
            </a:r>
            <a:r>
              <a:rPr lang="en-IN" b="1" dirty="0">
                <a:latin typeface="Times New Roman" panose="02020603050405020304" pitchFamily="18" charset="0"/>
                <a:ea typeface="Calibri" panose="020F0502020204030204" pitchFamily="34" charset="0"/>
                <a:cs typeface="Times New Roman" panose="02020603050405020304" pitchFamily="18" charset="0"/>
              </a:rPr>
              <a:t>(22CS421)</a:t>
            </a:r>
          </a:p>
          <a:p>
            <a:pPr algn="ctr">
              <a:lnSpc>
                <a:spcPct val="100000"/>
              </a:lnSpc>
              <a:spcBef>
                <a:spcPts val="400"/>
              </a:spcBef>
            </a:pPr>
            <a:r>
              <a:rPr lang="en-US" sz="2000" spc="-1" dirty="0">
                <a:latin typeface="Times New Roman" panose="02020603050405020304" pitchFamily="18" charset="0"/>
                <a:ea typeface="Calibri" panose="020F0502020204030204" pitchFamily="34" charset="0"/>
                <a:cs typeface="Times New Roman" panose="02020603050405020304" pitchFamily="18" charset="0"/>
              </a:rPr>
              <a:t>On</a:t>
            </a:r>
          </a:p>
          <a:p>
            <a:pPr algn="ctr">
              <a:spcBef>
                <a:spcPts val="400"/>
              </a:spcBef>
            </a:pPr>
            <a:r>
              <a:rPr lang="en-US" b="1" dirty="0">
                <a:latin typeface="Times New Roman" panose="02020603050405020304" pitchFamily="18" charset="0"/>
                <a:cs typeface="Times New Roman" panose="02020603050405020304" pitchFamily="18" charset="0"/>
              </a:rPr>
              <a:t>Stress and Mental Health Detection Using AI from Bio-signals</a:t>
            </a:r>
            <a:endParaRPr lang="en-US" sz="2000" b="1" dirty="0">
              <a:latin typeface="Times New Roman" panose="02020603050405020304" pitchFamily="18" charset="0"/>
              <a:cs typeface="Times New Roman" panose="02020603050405020304" pitchFamily="18" charset="0"/>
            </a:endParaRPr>
          </a:p>
          <a:p>
            <a:pPr algn="ctr">
              <a:lnSpc>
                <a:spcPct val="100000"/>
              </a:lnSpc>
              <a:spcBef>
                <a:spcPts val="400"/>
              </a:spcBef>
            </a:pPr>
            <a:endParaRPr lang="en-US" sz="2000" i="1" spc="-1"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400"/>
              </a:spcBef>
            </a:pPr>
            <a:b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br>
            <a:r>
              <a:rPr lang="en-US" dirty="0">
                <a:latin typeface="Times New Roman" panose="02020603050405020304" pitchFamily="18" charset="0"/>
                <a:cs typeface="Times New Roman" panose="02020603050405020304" pitchFamily="18" charset="0"/>
              </a:rPr>
              <a:t>Akshi Tripathi  22109901233</a:t>
            </a:r>
          </a:p>
          <a:p>
            <a:pPr algn="ctr">
              <a:lnSpc>
                <a:spcPct val="100000"/>
              </a:lnSpc>
              <a:spcBef>
                <a:spcPts val="400"/>
              </a:spcBef>
            </a:pPr>
            <a:r>
              <a:rPr lang="en-US" dirty="0">
                <a:latin typeface="Times New Roman" panose="02020603050405020304" pitchFamily="18" charset="0"/>
                <a:cs typeface="Times New Roman" panose="02020603050405020304" pitchFamily="18" charset="0"/>
              </a:rPr>
              <a:t> Sana Kaur Bhalla 2210990780</a:t>
            </a:r>
            <a:br>
              <a:rPr lang="en-US" dirty="0">
                <a:latin typeface="Times New Roman" panose="02020603050405020304" pitchFamily="18" charset="0"/>
                <a:cs typeface="Times New Roman" panose="02020603050405020304" pitchFamily="18" charset="0"/>
              </a:rPr>
            </a:b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Supervised By</a:t>
            </a:r>
          </a:p>
          <a:p>
            <a:pPr algn="ctr">
              <a:lnSpc>
                <a:spcPct val="100000"/>
              </a:lnSpc>
              <a:spcBef>
                <a:spcPts val="400"/>
              </a:spcBef>
            </a:pPr>
            <a: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t>Dr Preeti Saini</a:t>
            </a: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400" spc="-1" dirty="0">
                <a:latin typeface="Times New Roman" panose="02020603050405020304" pitchFamily="18" charset="0"/>
                <a:ea typeface="MS PGothic"/>
                <a:cs typeface="Times New Roman" panose="02020603050405020304" pitchFamily="18" charset="0"/>
              </a:rPr>
              <a:t>Department of </a:t>
            </a:r>
            <a:r>
              <a:rPr lang="en-US" sz="2400" b="0" strike="noStrike" spc="-1" dirty="0">
                <a:latin typeface="Times New Roman" panose="02020603050405020304" pitchFamily="18" charset="0"/>
                <a:ea typeface="MS PGothic"/>
                <a:cs typeface="Times New Roman" panose="02020603050405020304" pitchFamily="18" charset="0"/>
              </a:rPr>
              <a:t>Computer Science and Engineering, </a:t>
            </a:r>
          </a:p>
          <a:p>
            <a:pPr algn="ctr">
              <a:lnSpc>
                <a:spcPct val="100000"/>
              </a:lnSpc>
              <a:spcBef>
                <a:spcPts val="400"/>
              </a:spcBef>
            </a:pPr>
            <a:r>
              <a:rPr lang="en-US" sz="2400" b="0" strike="noStrike" spc="-1" dirty="0">
                <a:latin typeface="Times New Roman" panose="02020603050405020304" pitchFamily="18" charset="0"/>
                <a:ea typeface="MS PGothic"/>
                <a:cs typeface="Times New Roman" panose="02020603050405020304" pitchFamily="18" charset="0"/>
              </a:rPr>
              <a:t>Chitkara University, Punjab</a:t>
            </a:r>
          </a:p>
          <a:p>
            <a:pPr algn="ctr">
              <a:lnSpc>
                <a:spcPct val="150000"/>
              </a:lnSpc>
              <a:spcBef>
                <a:spcPts val="400"/>
              </a:spcBef>
            </a:pPr>
            <a:endParaRPr lang="en-US" sz="2000" b="0" strike="noStrike" spc="-1" dirty="0">
              <a:solidFill>
                <a:srgbClr val="000000"/>
              </a:solidFill>
              <a:latin typeface="Calibri"/>
            </a:endParaRPr>
          </a:p>
          <a:p>
            <a:pPr>
              <a:lnSpc>
                <a:spcPct val="100000"/>
              </a:lnSpc>
              <a:spcBef>
                <a:spcPts val="641"/>
              </a:spcBef>
            </a:pPr>
            <a:endParaRPr lang="en-US" sz="2000" b="0" strike="noStrike" spc="-1" dirty="0">
              <a:solidFill>
                <a:srgbClr val="000000"/>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 sz="3200" dirty="0">
                <a:latin typeface="Times New Roman" panose="02020603050405020304" pitchFamily="18" charset="0"/>
                <a:cs typeface="Times New Roman" panose="02020603050405020304" pitchFamily="18" charset="0"/>
              </a:rPr>
              <a:t>Introduction</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2</a:t>
            </a:fld>
            <a:endParaRPr lang="en-GB" sz="1200" b="0" strike="noStrike" spc="-1">
              <a:latin typeface="Times New Roman"/>
            </a:endParaRPr>
          </a:p>
        </p:txBody>
      </p:sp>
      <p:sp>
        <p:nvSpPr>
          <p:cNvPr id="5" name="TextShape 2"/>
          <p:cNvSpPr txBox="1"/>
          <p:nvPr/>
        </p:nvSpPr>
        <p:spPr>
          <a:xfrm>
            <a:off x="164008" y="1109742"/>
            <a:ext cx="8838720" cy="4838571"/>
          </a:xfrm>
          <a:prstGeom prst="rect">
            <a:avLst/>
          </a:prstGeom>
          <a:noFill/>
          <a:ln w="9360">
            <a:noFill/>
          </a:ln>
        </p:spPr>
        <p:txBody>
          <a:bodyPr>
            <a:noAutofit/>
          </a:bodyPr>
          <a:lstStyle/>
          <a:p>
            <a:pPr>
              <a:lnSpc>
                <a:spcPct val="150000"/>
              </a:lnSpc>
              <a:spcBef>
                <a:spcPts val="400"/>
              </a:spcBef>
            </a:pPr>
            <a:endParaRPr lang="en-US" sz="1900" b="0" strike="noStrike" spc="-1" dirty="0">
              <a:solidFill>
                <a:srgbClr val="000000"/>
              </a:solidFill>
              <a:latin typeface="Calibri"/>
            </a:endParaRPr>
          </a:p>
          <a:p>
            <a:pPr marL="139700" lvl="0">
              <a:buClr>
                <a:srgbClr val="000000"/>
              </a:buClr>
              <a:buSzPts val="1400"/>
            </a:pPr>
            <a:r>
              <a:rPr lang="en-US" sz="2000" dirty="0">
                <a:latin typeface="Times New Roman" panose="02020603050405020304" pitchFamily="18" charset="0"/>
                <a:cs typeface="Times New Roman" panose="02020603050405020304" pitchFamily="18" charset="0"/>
              </a:rPr>
              <a:t>Stress is a physiological response to demanding situations and plays a significant role in human health. While short-term stress can be beneficial, prolonged stress can lead to serious mental and physical health issues such as anxiety, depression, and cardiovascular disorders. Therefore, early detection and monitoring of stress are essential for improving overall well-being.</a:t>
            </a:r>
            <a:endParaRPr lang="en-US" sz="36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253B0-419D-B23A-083D-AEC82C10D006}"/>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78A6865C-DFF4-D2D9-03D0-206312E1A73B}"/>
              </a:ext>
            </a:extLst>
          </p:cNvPr>
          <p:cNvSpPr txBox="1"/>
          <p:nvPr/>
        </p:nvSpPr>
        <p:spPr>
          <a:xfrm>
            <a:off x="457200" y="0"/>
            <a:ext cx="6019560" cy="837720"/>
          </a:xfrm>
          <a:prstGeom prst="rect">
            <a:avLst/>
          </a:prstGeom>
          <a:noFill/>
          <a:ln w="9360">
            <a:noFill/>
          </a:ln>
        </p:spPr>
        <p:txBody>
          <a:bodyPr anchor="ctr">
            <a:noAutofit/>
          </a:bodyPr>
          <a:lstStyle/>
          <a:p>
            <a:pPr algn="ctr"/>
            <a:r>
              <a:rPr lang="en-US" sz="3200" dirty="0">
                <a:latin typeface="Times New Roman" panose="02020603050405020304" pitchFamily="18" charset="0"/>
                <a:cs typeface="Times New Roman" panose="02020603050405020304" pitchFamily="18" charset="0"/>
              </a:rPr>
              <a:t>Problem</a:t>
            </a:r>
            <a:r>
              <a:rPr lang="en-US" sz="3200" b="1" dirty="0">
                <a:latin typeface="Times New Roman" panose="02020603050405020304" pitchFamily="18" charset="0"/>
                <a:cs typeface="Times New Roman" panose="02020603050405020304" pitchFamily="18" charset="0"/>
              </a:rPr>
              <a:t> </a:t>
            </a:r>
            <a:r>
              <a:rPr lang="en-US" sz="3200" dirty="0">
                <a:latin typeface="Times New Roman" panose="02020603050405020304" pitchFamily="18" charset="0"/>
                <a:cs typeface="Times New Roman" panose="02020603050405020304" pitchFamily="18" charset="0"/>
              </a:rPr>
              <a:t>Statement</a:t>
            </a:r>
          </a:p>
        </p:txBody>
      </p:sp>
      <p:sp>
        <p:nvSpPr>
          <p:cNvPr id="110" name="TextShape 3">
            <a:extLst>
              <a:ext uri="{FF2B5EF4-FFF2-40B4-BE49-F238E27FC236}">
                <a16:creationId xmlns:a16="http://schemas.microsoft.com/office/drawing/2014/main" id="{F1332954-3C10-840F-D32A-599811C43DEB}"/>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3</a:t>
            </a:fld>
            <a:endParaRPr lang="en-GB" sz="1200" b="0" strike="noStrike" spc="-1">
              <a:latin typeface="Times New Roman"/>
            </a:endParaRPr>
          </a:p>
        </p:txBody>
      </p:sp>
      <p:sp>
        <p:nvSpPr>
          <p:cNvPr id="5" name="TextShape 2">
            <a:extLst>
              <a:ext uri="{FF2B5EF4-FFF2-40B4-BE49-F238E27FC236}">
                <a16:creationId xmlns:a16="http://schemas.microsoft.com/office/drawing/2014/main" id="{7C68A1CE-68D0-459C-12B8-55A004BF715A}"/>
              </a:ext>
            </a:extLst>
          </p:cNvPr>
          <p:cNvSpPr txBox="1"/>
          <p:nvPr/>
        </p:nvSpPr>
        <p:spPr>
          <a:xfrm>
            <a:off x="164008" y="1109742"/>
            <a:ext cx="8838720" cy="4838571"/>
          </a:xfrm>
          <a:prstGeom prst="rect">
            <a:avLst/>
          </a:prstGeom>
          <a:noFill/>
          <a:ln w="9360">
            <a:noFill/>
          </a:ln>
        </p:spPr>
        <p:txBody>
          <a:bodyPr>
            <a:noAutofit/>
          </a:bodyPr>
          <a:lstStyle/>
          <a:p>
            <a:pPr>
              <a:lnSpc>
                <a:spcPct val="150000"/>
              </a:lnSpc>
              <a:spcBef>
                <a:spcPts val="400"/>
              </a:spcBef>
            </a:pPr>
            <a:endParaRPr lang="en-US" b="0" strike="noStrike" spc="-1" dirty="0">
              <a:solidFill>
                <a:srgbClr val="000000"/>
              </a:solidFill>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Traditional stress detection methods, such as self-reported surveys and clinical assessments, are subjective and often fail to capture real-time physiological changes. These limitations reduce their effectiveness in accurately identifying stress levels, highlighting the need for more objective and continuous monitoring approaches.</a:t>
            </a: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p:txBody>
      </p:sp>
    </p:spTree>
    <p:extLst>
      <p:ext uri="{BB962C8B-B14F-4D97-AF65-F5344CB8AC3E}">
        <p14:creationId xmlns:p14="http://schemas.microsoft.com/office/powerpoint/2010/main" val="15822304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07752D-E1DD-DD9C-8803-39E663D560E3}"/>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E1D7AB1F-0BBA-38B7-807E-F1767EA54640}"/>
              </a:ext>
            </a:extLst>
          </p:cNvPr>
          <p:cNvSpPr txBox="1"/>
          <p:nvPr/>
        </p:nvSpPr>
        <p:spPr>
          <a:xfrm>
            <a:off x="457200" y="0"/>
            <a:ext cx="6019560" cy="837720"/>
          </a:xfrm>
          <a:prstGeom prst="rect">
            <a:avLst/>
          </a:prstGeom>
          <a:noFill/>
          <a:ln w="9360">
            <a:noFill/>
          </a:ln>
        </p:spPr>
        <p:txBody>
          <a:bodyPr anchor="ctr">
            <a:noAutofit/>
          </a:bodyPr>
          <a:lstStyle/>
          <a:p>
            <a:pPr algn="ctr"/>
            <a:r>
              <a:rPr lang="en-US" sz="3200" dirty="0" err="1">
                <a:latin typeface="Times New Roman" panose="02020603050405020304" pitchFamily="18" charset="0"/>
                <a:cs typeface="Times New Roman" panose="02020603050405020304" pitchFamily="18" charset="0"/>
              </a:rPr>
              <a:t>Biosignals</a:t>
            </a:r>
            <a:r>
              <a:rPr lang="en-US" sz="3200" dirty="0">
                <a:latin typeface="Times New Roman" panose="02020603050405020304" pitchFamily="18" charset="0"/>
                <a:cs typeface="Times New Roman" panose="02020603050405020304" pitchFamily="18" charset="0"/>
              </a:rPr>
              <a:t> for Stress Detection</a:t>
            </a:r>
          </a:p>
        </p:txBody>
      </p:sp>
      <p:sp>
        <p:nvSpPr>
          <p:cNvPr id="110" name="TextShape 3">
            <a:extLst>
              <a:ext uri="{FF2B5EF4-FFF2-40B4-BE49-F238E27FC236}">
                <a16:creationId xmlns:a16="http://schemas.microsoft.com/office/drawing/2014/main" id="{08F7CE97-25A9-F5B6-0CB8-62AD5CBD639E}"/>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4</a:t>
            </a:fld>
            <a:endParaRPr lang="en-GB" sz="1200" b="0" strike="noStrike" spc="-1">
              <a:latin typeface="Times New Roman"/>
            </a:endParaRPr>
          </a:p>
        </p:txBody>
      </p:sp>
      <p:sp>
        <p:nvSpPr>
          <p:cNvPr id="5" name="TextShape 2">
            <a:extLst>
              <a:ext uri="{FF2B5EF4-FFF2-40B4-BE49-F238E27FC236}">
                <a16:creationId xmlns:a16="http://schemas.microsoft.com/office/drawing/2014/main" id="{510DB553-F2C0-A20F-0B40-AA5E755198D3}"/>
              </a:ext>
            </a:extLst>
          </p:cNvPr>
          <p:cNvSpPr txBox="1"/>
          <p:nvPr/>
        </p:nvSpPr>
        <p:spPr>
          <a:xfrm>
            <a:off x="164008" y="1109742"/>
            <a:ext cx="8838720" cy="4838571"/>
          </a:xfrm>
          <a:prstGeom prst="rect">
            <a:avLst/>
          </a:prstGeom>
          <a:noFill/>
          <a:ln w="9360">
            <a:noFill/>
          </a:ln>
        </p:spPr>
        <p:txBody>
          <a:bodyPr>
            <a:noAutofit/>
          </a:bodyPr>
          <a:lstStyle/>
          <a:p>
            <a:pPr>
              <a:lnSpc>
                <a:spcPct val="150000"/>
              </a:lnSpc>
              <a:spcBef>
                <a:spcPts val="400"/>
              </a:spcBef>
            </a:pPr>
            <a:endParaRPr lang="en-US" sz="1900" b="0" strike="noStrike" spc="-1" dirty="0">
              <a:solidFill>
                <a:srgbClr val="000000"/>
              </a:solidFill>
              <a:latin typeface="Calibri"/>
            </a:endParaRPr>
          </a:p>
          <a:p>
            <a:r>
              <a:rPr lang="en-US" dirty="0" err="1">
                <a:latin typeface="Times New Roman" panose="02020603050405020304" pitchFamily="18" charset="0"/>
                <a:cs typeface="Times New Roman" panose="02020603050405020304" pitchFamily="18" charset="0"/>
              </a:rPr>
              <a:t>Biosignals</a:t>
            </a:r>
            <a:r>
              <a:rPr lang="en-US" dirty="0">
                <a:latin typeface="Times New Roman" panose="02020603050405020304" pitchFamily="18" charset="0"/>
                <a:cs typeface="Times New Roman" panose="02020603050405020304" pitchFamily="18" charset="0"/>
              </a:rPr>
              <a:t> are physiological signals generated by the human body that reflect internal conditions and responses to external stimuli. These signals are directly influenced by the autonomic nervous system, which regulates the body’s reaction to stress.</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Key </a:t>
            </a:r>
            <a:r>
              <a:rPr lang="en-US" dirty="0" err="1">
                <a:latin typeface="Times New Roman" panose="02020603050405020304" pitchFamily="18" charset="0"/>
                <a:cs typeface="Times New Roman" panose="02020603050405020304" pitchFamily="18" charset="0"/>
              </a:rPr>
              <a:t>biosignals</a:t>
            </a:r>
            <a:r>
              <a:rPr lang="en-US" dirty="0">
                <a:latin typeface="Times New Roman" panose="02020603050405020304" pitchFamily="18" charset="0"/>
                <a:cs typeface="Times New Roman" panose="02020603050405020304" pitchFamily="18" charset="0"/>
              </a:rPr>
              <a:t> used in stress detection include heart rate (ECG), where stress typically increases heart rate and reduces heart rate variability; electrodermal activity (EDA), which measures changes in skin conductance due to sweat gland activity; respiration rate, which becomes faster or irregular under stress; and electroencephalogram (EEG), which captures changes in brain activity related to emotional and cognitive states.</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By analyzing these signals, it is possible to obtain objective and continuous insights into an individual’s stress levels, making </a:t>
            </a:r>
            <a:r>
              <a:rPr lang="en-US" dirty="0" err="1">
                <a:latin typeface="Times New Roman" panose="02020603050405020304" pitchFamily="18" charset="0"/>
                <a:cs typeface="Times New Roman" panose="02020603050405020304" pitchFamily="18" charset="0"/>
              </a:rPr>
              <a:t>biosignals</a:t>
            </a:r>
            <a:r>
              <a:rPr lang="en-US" dirty="0">
                <a:latin typeface="Times New Roman" panose="02020603050405020304" pitchFamily="18" charset="0"/>
                <a:cs typeface="Times New Roman" panose="02020603050405020304" pitchFamily="18" charset="0"/>
              </a:rPr>
              <a:t> more reliable than traditional self-reported methods.</a:t>
            </a:r>
          </a:p>
          <a:p>
            <a:endParaRPr lang="en-US"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z="1900"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p:txBody>
      </p:sp>
    </p:spTree>
    <p:extLst>
      <p:ext uri="{BB962C8B-B14F-4D97-AF65-F5344CB8AC3E}">
        <p14:creationId xmlns:p14="http://schemas.microsoft.com/office/powerpoint/2010/main" val="16741151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D7A53B-9004-470F-37E0-518556A6459C}"/>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FD5DFB83-4102-654F-7C7C-C5103AF315A0}"/>
              </a:ext>
            </a:extLst>
          </p:cNvPr>
          <p:cNvSpPr txBox="1"/>
          <p:nvPr/>
        </p:nvSpPr>
        <p:spPr>
          <a:xfrm>
            <a:off x="457200" y="0"/>
            <a:ext cx="6019560" cy="837720"/>
          </a:xfrm>
          <a:prstGeom prst="rect">
            <a:avLst/>
          </a:prstGeom>
          <a:noFill/>
          <a:ln w="9360">
            <a:noFill/>
          </a:ln>
        </p:spPr>
        <p:txBody>
          <a:bodyPr anchor="ctr">
            <a:noAutofit/>
          </a:bodyPr>
          <a:lstStyle/>
          <a:p>
            <a:pPr algn="ctr"/>
            <a:r>
              <a:rPr lang="en-US" sz="3200" dirty="0">
                <a:latin typeface="Times New Roman" panose="02020603050405020304" pitchFamily="18" charset="0"/>
                <a:cs typeface="Times New Roman" panose="02020603050405020304" pitchFamily="18" charset="0"/>
              </a:rPr>
              <a:t>Artificial Intelligence Techniques</a:t>
            </a:r>
            <a:endParaRPr lang="en-US" sz="3200" b="1" dirty="0">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86D2E580-3DEF-6616-0B2F-9EA3F3E3AE04}"/>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5</a:t>
            </a:fld>
            <a:endParaRPr lang="en-GB" sz="1200" b="0" strike="noStrike" spc="-1">
              <a:latin typeface="Times New Roman"/>
            </a:endParaRPr>
          </a:p>
        </p:txBody>
      </p:sp>
      <p:sp>
        <p:nvSpPr>
          <p:cNvPr id="5" name="TextShape 2">
            <a:extLst>
              <a:ext uri="{FF2B5EF4-FFF2-40B4-BE49-F238E27FC236}">
                <a16:creationId xmlns:a16="http://schemas.microsoft.com/office/drawing/2014/main" id="{79EFC397-D62F-F997-3A6D-FD0A46A25614}"/>
              </a:ext>
            </a:extLst>
          </p:cNvPr>
          <p:cNvSpPr txBox="1"/>
          <p:nvPr/>
        </p:nvSpPr>
        <p:spPr>
          <a:xfrm>
            <a:off x="164008" y="1109742"/>
            <a:ext cx="8838720" cy="4838571"/>
          </a:xfrm>
          <a:prstGeom prst="rect">
            <a:avLst/>
          </a:prstGeom>
          <a:noFill/>
          <a:ln w="9360">
            <a:noFill/>
          </a:ln>
        </p:spPr>
        <p:txBody>
          <a:bodyPr>
            <a:noAutofit/>
          </a:bodyPr>
          <a:lstStyle/>
          <a:p>
            <a:pPr>
              <a:lnSpc>
                <a:spcPct val="150000"/>
              </a:lnSpc>
              <a:spcBef>
                <a:spcPts val="400"/>
              </a:spcBef>
            </a:pPr>
            <a:endParaRPr lang="en-US" b="0" strike="noStrike" spc="-1" dirty="0">
              <a:solidFill>
                <a:srgbClr val="000000"/>
              </a:solidFill>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Artificial Intelligence plays a vital role in processing and analyzing large volumes of </a:t>
            </a:r>
            <a:r>
              <a:rPr lang="en-US" dirty="0" err="1">
                <a:latin typeface="Times New Roman" panose="02020603050405020304" pitchFamily="18" charset="0"/>
                <a:cs typeface="Times New Roman" panose="02020603050405020304" pitchFamily="18" charset="0"/>
              </a:rPr>
              <a:t>biosignal</a:t>
            </a:r>
            <a:r>
              <a:rPr lang="en-US" dirty="0">
                <a:latin typeface="Times New Roman" panose="02020603050405020304" pitchFamily="18" charset="0"/>
                <a:cs typeface="Times New Roman" panose="02020603050405020304" pitchFamily="18" charset="0"/>
              </a:rPr>
              <a:t> data. Since </a:t>
            </a:r>
            <a:r>
              <a:rPr lang="en-US" dirty="0" err="1">
                <a:latin typeface="Times New Roman" panose="02020603050405020304" pitchFamily="18" charset="0"/>
                <a:cs typeface="Times New Roman" panose="02020603050405020304" pitchFamily="18" charset="0"/>
              </a:rPr>
              <a:t>biosignals</a:t>
            </a:r>
            <a:r>
              <a:rPr lang="en-US" dirty="0">
                <a:latin typeface="Times New Roman" panose="02020603050405020304" pitchFamily="18" charset="0"/>
                <a:cs typeface="Times New Roman" panose="02020603050405020304" pitchFamily="18" charset="0"/>
              </a:rPr>
              <a:t> are complex, time-series data, manual analysis is difficult and inefficient. AI techniques help in extracting meaningful patterns and identifying stress-related changes automatically.</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Common machine learning algorithms used include Support Vector Machines (SVM), which perform well with high-dimensional data; Random Forest, known for its robustness and accuracy; k-Nearest Neighbors (</a:t>
            </a:r>
            <a:r>
              <a:rPr lang="en-US" dirty="0" err="1">
                <a:latin typeface="Times New Roman" panose="02020603050405020304" pitchFamily="18" charset="0"/>
                <a:cs typeface="Times New Roman" panose="02020603050405020304" pitchFamily="18" charset="0"/>
              </a:rPr>
              <a:t>kNN</a:t>
            </a:r>
            <a:r>
              <a:rPr lang="en-US" dirty="0">
                <a:latin typeface="Times New Roman" panose="02020603050405020304" pitchFamily="18" charset="0"/>
                <a:cs typeface="Times New Roman" panose="02020603050405020304" pitchFamily="18" charset="0"/>
              </a:rPr>
              <a:t>), which is simple and effective for classification; and Convolutional Neural Networks (CNN), which are capable of automatically learning important features from raw data.</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These techniques significantly improve the accuracy and efficiency of stress detection systems and enable real-time, automated monitoring of mental health conditions.</a:t>
            </a:r>
          </a:p>
          <a:p>
            <a:endParaRPr lang="en-US" spc="-1" dirty="0">
              <a:solidFill>
                <a:srgbClr val="000000"/>
              </a:solidFill>
              <a:latin typeface="Times New Roman" panose="02020603050405020304" pitchFamily="18" charset="0"/>
              <a:cs typeface="Times New Roman" panose="02020603050405020304" pitchFamily="18" charset="0"/>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p:txBody>
      </p:sp>
    </p:spTree>
    <p:extLst>
      <p:ext uri="{BB962C8B-B14F-4D97-AF65-F5344CB8AC3E}">
        <p14:creationId xmlns:p14="http://schemas.microsoft.com/office/powerpoint/2010/main" val="18440151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FC3CB9-E407-02AD-022A-CF9718A68163}"/>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5D5CC4FB-AC16-465E-F49C-A44A8DDDCA88}"/>
              </a:ext>
            </a:extLst>
          </p:cNvPr>
          <p:cNvSpPr txBox="1"/>
          <p:nvPr/>
        </p:nvSpPr>
        <p:spPr>
          <a:xfrm>
            <a:off x="457200" y="0"/>
            <a:ext cx="6019560" cy="837720"/>
          </a:xfrm>
          <a:prstGeom prst="rect">
            <a:avLst/>
          </a:prstGeom>
          <a:noFill/>
          <a:ln w="9360">
            <a:noFill/>
          </a:ln>
        </p:spPr>
        <p:txBody>
          <a:bodyPr anchor="ctr">
            <a:noAutofit/>
          </a:bodyPr>
          <a:lstStyle/>
          <a:p>
            <a:pPr algn="ctr"/>
            <a:r>
              <a:rPr lang="en-US" sz="3200" dirty="0">
                <a:latin typeface="Times New Roman" panose="02020603050405020304" pitchFamily="18" charset="0"/>
                <a:cs typeface="Times New Roman" panose="02020603050405020304" pitchFamily="18" charset="0"/>
              </a:rPr>
              <a:t>Methodology and Datasets</a:t>
            </a:r>
            <a:endParaRPr lang="en-US" sz="3200" b="1" dirty="0">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47CADEA3-C314-043A-29CF-7276988013C4}"/>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6</a:t>
            </a:fld>
            <a:endParaRPr lang="en-GB" sz="1200" b="0" strike="noStrike" spc="-1">
              <a:latin typeface="Times New Roman"/>
            </a:endParaRPr>
          </a:p>
        </p:txBody>
      </p:sp>
      <p:sp>
        <p:nvSpPr>
          <p:cNvPr id="5" name="TextShape 2">
            <a:extLst>
              <a:ext uri="{FF2B5EF4-FFF2-40B4-BE49-F238E27FC236}">
                <a16:creationId xmlns:a16="http://schemas.microsoft.com/office/drawing/2014/main" id="{C91CBB2D-C400-C57A-6545-562580D7906A}"/>
              </a:ext>
            </a:extLst>
          </p:cNvPr>
          <p:cNvSpPr txBox="1"/>
          <p:nvPr/>
        </p:nvSpPr>
        <p:spPr>
          <a:xfrm>
            <a:off x="164008" y="1109742"/>
            <a:ext cx="8838720" cy="4838571"/>
          </a:xfrm>
          <a:prstGeom prst="rect">
            <a:avLst/>
          </a:prstGeom>
          <a:noFill/>
          <a:ln w="9360">
            <a:noFill/>
          </a:ln>
        </p:spPr>
        <p:txBody>
          <a:bodyPr>
            <a:noAutofit/>
          </a:bodyPr>
          <a:lstStyle/>
          <a:p>
            <a:r>
              <a:rPr lang="en-US" dirty="0">
                <a:latin typeface="Times New Roman" panose="02020603050405020304" pitchFamily="18" charset="0"/>
                <a:cs typeface="Times New Roman" panose="02020603050405020304" pitchFamily="18" charset="0"/>
              </a:rPr>
              <a:t>This study follows a review-based research methodology that combines literature analysis with dataset exploration. Relevant research papers were examined to understand existing approaches for stress detection using </a:t>
            </a:r>
            <a:r>
              <a:rPr lang="en-US" dirty="0" err="1">
                <a:latin typeface="Times New Roman" panose="02020603050405020304" pitchFamily="18" charset="0"/>
                <a:cs typeface="Times New Roman" panose="02020603050405020304" pitchFamily="18" charset="0"/>
              </a:rPr>
              <a:t>biosignals</a:t>
            </a:r>
            <a:r>
              <a:rPr lang="en-US" dirty="0">
                <a:latin typeface="Times New Roman" panose="02020603050405020304" pitchFamily="18" charset="0"/>
                <a:cs typeface="Times New Roman" panose="02020603050405020304" pitchFamily="18" charset="0"/>
              </a:rPr>
              <a:t> and artificial intelligence techniques.</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In addition, publicly available datasets such as the Mental Health Monitoring Dataset, Wearable Device Dataset During Stress and Exercise, and Psychological State Identification Dataset were analyzed. These datasets contain time-series physiological signals like heart rate, electrodermal activity, temperature, and motion data collected under different conditions.</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 overall approach involves studying these physiological signals, identifying patterns associated with stress, and comparing the performance of various machine learning techniques used in previous research for stress detection</a:t>
            </a: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p:txBody>
      </p:sp>
    </p:spTree>
    <p:extLst>
      <p:ext uri="{BB962C8B-B14F-4D97-AF65-F5344CB8AC3E}">
        <p14:creationId xmlns:p14="http://schemas.microsoft.com/office/powerpoint/2010/main" val="15232363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D6835D-15F9-CD90-E636-D9278BDE4178}"/>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062CA4AB-73F6-92AD-311A-6606FB672093}"/>
              </a:ext>
            </a:extLst>
          </p:cNvPr>
          <p:cNvSpPr txBox="1"/>
          <p:nvPr/>
        </p:nvSpPr>
        <p:spPr>
          <a:xfrm>
            <a:off x="457200" y="0"/>
            <a:ext cx="6019560" cy="837720"/>
          </a:xfrm>
          <a:prstGeom prst="rect">
            <a:avLst/>
          </a:prstGeom>
          <a:noFill/>
          <a:ln w="9360">
            <a:noFill/>
          </a:ln>
        </p:spPr>
        <p:txBody>
          <a:bodyPr anchor="ctr">
            <a:noAutofit/>
          </a:bodyPr>
          <a:lstStyle/>
          <a:p>
            <a:pPr algn="ctr"/>
            <a:r>
              <a:rPr lang="en-US" sz="3200" dirty="0">
                <a:latin typeface="Times New Roman" panose="02020603050405020304" pitchFamily="18" charset="0"/>
                <a:cs typeface="Times New Roman" panose="02020603050405020304" pitchFamily="18" charset="0"/>
              </a:rPr>
              <a:t>Results and Discussion</a:t>
            </a:r>
            <a:endParaRPr lang="en-US" sz="3200" b="1" dirty="0">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0EC16D36-F9D9-7860-0FB8-E50B2495103C}"/>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7</a:t>
            </a:fld>
            <a:endParaRPr lang="en-GB" sz="1200" b="0" strike="noStrike" spc="-1">
              <a:latin typeface="Times New Roman"/>
            </a:endParaRPr>
          </a:p>
        </p:txBody>
      </p:sp>
      <p:sp>
        <p:nvSpPr>
          <p:cNvPr id="5" name="TextShape 2">
            <a:extLst>
              <a:ext uri="{FF2B5EF4-FFF2-40B4-BE49-F238E27FC236}">
                <a16:creationId xmlns:a16="http://schemas.microsoft.com/office/drawing/2014/main" id="{71C855D4-8487-30D6-1B5D-C5844979BDB4}"/>
              </a:ext>
            </a:extLst>
          </p:cNvPr>
          <p:cNvSpPr txBox="1"/>
          <p:nvPr/>
        </p:nvSpPr>
        <p:spPr>
          <a:xfrm>
            <a:off x="164008" y="1109742"/>
            <a:ext cx="8838720" cy="4838571"/>
          </a:xfrm>
          <a:prstGeom prst="rect">
            <a:avLst/>
          </a:prstGeom>
          <a:noFill/>
          <a:ln w="9360">
            <a:noFill/>
          </a:ln>
        </p:spPr>
        <p:txBody>
          <a:bodyPr>
            <a:noAutofit/>
          </a:bodyPr>
          <a:lstStyle/>
          <a:p>
            <a:pPr>
              <a:lnSpc>
                <a:spcPct val="150000"/>
              </a:lnSpc>
              <a:spcBef>
                <a:spcPts val="400"/>
              </a:spcBef>
            </a:pPr>
            <a:r>
              <a:rPr lang="en-US" dirty="0">
                <a:latin typeface="Times New Roman" panose="02020603050405020304" pitchFamily="18" charset="0"/>
                <a:cs typeface="Times New Roman" panose="02020603050405020304" pitchFamily="18" charset="0"/>
              </a:rPr>
              <a:t>The analysis indicates that stress causes measurable changes in physiological signals, such as increased heart rate, higher electrodermal activity, and irregular respiration. It was observed that combining multiple </a:t>
            </a:r>
            <a:r>
              <a:rPr lang="en-US" dirty="0" err="1">
                <a:latin typeface="Times New Roman" panose="02020603050405020304" pitchFamily="18" charset="0"/>
                <a:cs typeface="Times New Roman" panose="02020603050405020304" pitchFamily="18" charset="0"/>
              </a:rPr>
              <a:t>biosignals</a:t>
            </a:r>
            <a:r>
              <a:rPr lang="en-US" dirty="0">
                <a:latin typeface="Times New Roman" panose="02020603050405020304" pitchFamily="18" charset="0"/>
                <a:cs typeface="Times New Roman" panose="02020603050405020304" pitchFamily="18" charset="0"/>
              </a:rPr>
              <a:t> improves detection accuracy. Among various techniques, deep learning models demonstrated superior performance in stress classification.</a:t>
            </a:r>
            <a:endParaRPr lang="en-US" b="0" strike="noStrike" spc="-1" dirty="0">
              <a:solidFill>
                <a:srgbClr val="000000"/>
              </a:solidFill>
              <a:latin typeface="Times New Roman" panose="02020603050405020304" pitchFamily="18" charset="0"/>
              <a:cs typeface="Times New Roman" panose="02020603050405020304" pitchFamily="18" charset="0"/>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p:txBody>
      </p:sp>
    </p:spTree>
    <p:extLst>
      <p:ext uri="{BB962C8B-B14F-4D97-AF65-F5344CB8AC3E}">
        <p14:creationId xmlns:p14="http://schemas.microsoft.com/office/powerpoint/2010/main" val="37204409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A5849F-98F1-0862-B2BD-3A69504D3E1E}"/>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27AFCFDC-9FB1-ABC4-6A7F-85221F58021D}"/>
              </a:ext>
            </a:extLst>
          </p:cNvPr>
          <p:cNvSpPr txBox="1"/>
          <p:nvPr/>
        </p:nvSpPr>
        <p:spPr>
          <a:xfrm>
            <a:off x="457200" y="0"/>
            <a:ext cx="6019560" cy="837720"/>
          </a:xfrm>
          <a:prstGeom prst="rect">
            <a:avLst/>
          </a:prstGeom>
          <a:noFill/>
          <a:ln w="9360">
            <a:noFill/>
          </a:ln>
        </p:spPr>
        <p:txBody>
          <a:bodyPr anchor="ctr">
            <a:noAutofit/>
          </a:bodyPr>
          <a:lstStyle/>
          <a:p>
            <a:pPr algn="ctr"/>
            <a:r>
              <a:rPr lang="en-US" sz="3200" dirty="0">
                <a:latin typeface="Times New Roman" panose="02020603050405020304" pitchFamily="18" charset="0"/>
                <a:cs typeface="Times New Roman" panose="02020603050405020304" pitchFamily="18" charset="0"/>
              </a:rPr>
              <a:t>Conclusion</a:t>
            </a:r>
            <a:endParaRPr lang="en-US" sz="3200" b="1" dirty="0">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E0F22CCD-6BDA-EBB1-9071-DEB69732EB0B}"/>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8</a:t>
            </a:fld>
            <a:endParaRPr lang="en-GB" sz="1200" b="0" strike="noStrike" spc="-1">
              <a:latin typeface="Times New Roman"/>
            </a:endParaRPr>
          </a:p>
        </p:txBody>
      </p:sp>
      <p:sp>
        <p:nvSpPr>
          <p:cNvPr id="5" name="TextShape 2">
            <a:extLst>
              <a:ext uri="{FF2B5EF4-FFF2-40B4-BE49-F238E27FC236}">
                <a16:creationId xmlns:a16="http://schemas.microsoft.com/office/drawing/2014/main" id="{A04A479C-F1F8-C262-2E0A-13F45332A2B4}"/>
              </a:ext>
            </a:extLst>
          </p:cNvPr>
          <p:cNvSpPr txBox="1"/>
          <p:nvPr/>
        </p:nvSpPr>
        <p:spPr>
          <a:xfrm>
            <a:off x="164008" y="1109742"/>
            <a:ext cx="8838720" cy="4838571"/>
          </a:xfrm>
          <a:prstGeom prst="rect">
            <a:avLst/>
          </a:prstGeom>
          <a:noFill/>
          <a:ln w="9360">
            <a:noFill/>
          </a:ln>
        </p:spPr>
        <p:txBody>
          <a:bodyPr>
            <a:noAutofit/>
          </a:bodyPr>
          <a:lstStyle/>
          <a:p>
            <a:pPr>
              <a:lnSpc>
                <a:spcPct val="150000"/>
              </a:lnSpc>
              <a:spcBef>
                <a:spcPts val="400"/>
              </a:spcBef>
            </a:pPr>
            <a:r>
              <a:rPr lang="en-US" dirty="0">
                <a:latin typeface="Times New Roman" panose="02020603050405020304" pitchFamily="18" charset="0"/>
                <a:cs typeface="Times New Roman" panose="02020603050405020304" pitchFamily="18" charset="0"/>
              </a:rPr>
              <a:t>In conclusion, the integration of </a:t>
            </a:r>
            <a:r>
              <a:rPr lang="en-US" dirty="0" err="1">
                <a:latin typeface="Times New Roman" panose="02020603050405020304" pitchFamily="18" charset="0"/>
                <a:cs typeface="Times New Roman" panose="02020603050405020304" pitchFamily="18" charset="0"/>
              </a:rPr>
              <a:t>biosignals</a:t>
            </a:r>
            <a:r>
              <a:rPr lang="en-US" dirty="0">
                <a:latin typeface="Times New Roman" panose="02020603050405020304" pitchFamily="18" charset="0"/>
                <a:cs typeface="Times New Roman" panose="02020603050405020304" pitchFamily="18" charset="0"/>
              </a:rPr>
              <a:t> and artificial intelligence provides an effective approach for stress detection and mental health monitoring. However, challenges such as data noise, privacy concerns, and individual variability remain. Future work should focus on developing personalized models, improving sensor technology, and integrating these systems into healthcare applications.</a:t>
            </a:r>
            <a:endParaRPr lang="en-US"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p:txBody>
      </p:sp>
    </p:spTree>
    <p:extLst>
      <p:ext uri="{BB962C8B-B14F-4D97-AF65-F5344CB8AC3E}">
        <p14:creationId xmlns:p14="http://schemas.microsoft.com/office/powerpoint/2010/main" val="15311278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297577" y="2821578"/>
            <a:ext cx="6705599" cy="1410788"/>
          </a:xfrm>
          <a:prstGeom prst="rect">
            <a:avLst/>
          </a:prstGeom>
          <a:noFill/>
          <a:ln w="9360">
            <a:noFill/>
          </a:ln>
        </p:spPr>
        <p:txBody>
          <a:bodyPr anchor="ctr">
            <a:noAutofit/>
          </a:bodyPr>
          <a:lstStyle/>
          <a:p>
            <a:pPr algn="ctr">
              <a:lnSpc>
                <a:spcPct val="100000"/>
              </a:lnSpc>
            </a:pPr>
            <a:r>
              <a:rPr lang="en" sz="5400" dirty="0">
                <a:latin typeface="Times New Roman" panose="02020603050405020304" pitchFamily="18" charset="0"/>
                <a:cs typeface="Times New Roman" panose="02020603050405020304" pitchFamily="18" charset="0"/>
              </a:rPr>
              <a:t>Thank You</a:t>
            </a:r>
            <a:endParaRPr lang="en-US" sz="5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9</a:t>
            </a:fld>
            <a:endParaRPr lang="en-GB" sz="1200" b="0" strike="noStrike" spc="-1">
              <a:latin typeface="Times New Roman"/>
            </a:endParaRPr>
          </a:p>
        </p:txBody>
      </p:sp>
    </p:spTree>
    <p:extLst>
      <p:ext uri="{BB962C8B-B14F-4D97-AF65-F5344CB8AC3E}">
        <p14:creationId xmlns:p14="http://schemas.microsoft.com/office/powerpoint/2010/main" val="28344798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96F1BF43DDE004485E7A868D137D60A" ma:contentTypeVersion="0" ma:contentTypeDescription="Create a new document." ma:contentTypeScope="" ma:versionID="47fff7f98a9c49c088ba096c14cf4458">
  <xsd:schema xmlns:xsd="http://www.w3.org/2001/XMLSchema" xmlns:xs="http://www.w3.org/2001/XMLSchema" xmlns:p="http://schemas.microsoft.com/office/2006/metadata/properties" targetNamespace="http://schemas.microsoft.com/office/2006/metadata/properties" ma:root="true" ma:fieldsID="c05e9f2c4932a6a674126b9dde7716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37ED6F0-5E4C-4CD0-9B68-9C53F925A6F7}">
  <ds:schemaRefs>
    <ds:schemaRef ds:uri="http://schemas.microsoft.com/sharepoint/v3/contenttype/forms"/>
  </ds:schemaRefs>
</ds:datastoreItem>
</file>

<file path=customXml/itemProps2.xml><?xml version="1.0" encoding="utf-8"?>
<ds:datastoreItem xmlns:ds="http://schemas.openxmlformats.org/officeDocument/2006/customXml" ds:itemID="{4A62A602-78C1-468C-BB25-57CD481DB741}">
  <ds:schemaRefs>
    <ds:schemaRef ds:uri="http://purl.org/dc/terms/"/>
    <ds:schemaRef ds:uri="http://www.w3.org/XML/1998/namespace"/>
    <ds:schemaRef ds:uri="http://purl.org/dc/dcmitype/"/>
    <ds:schemaRef ds:uri="http://schemas.microsoft.com/office/2006/documentManagement/types"/>
    <ds:schemaRef ds:uri="http://schemas.microsoft.com/office/2006/metadata/properties"/>
    <ds:schemaRef ds:uri="http://purl.org/dc/elements/1.1/"/>
    <ds:schemaRef ds:uri="http://schemas.microsoft.com/office/infopath/2007/PartnerControls"/>
    <ds:schemaRef ds:uri="http://schemas.openxmlformats.org/package/2006/metadata/core-properties"/>
  </ds:schemaRefs>
</ds:datastoreItem>
</file>

<file path=customXml/itemProps3.xml><?xml version="1.0" encoding="utf-8"?>
<ds:datastoreItem xmlns:ds="http://schemas.openxmlformats.org/officeDocument/2006/customXml" ds:itemID="{491DF113-39A2-46D5-BFDA-E63300A9EC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34717</TotalTime>
  <Words>690</Words>
  <Application>Microsoft Macintosh PowerPoint</Application>
  <PresentationFormat>On-screen Show (4:3)</PresentationFormat>
  <Paragraphs>103</Paragraphs>
  <Slides>9</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Sana Bhalla</cp:lastModifiedBy>
  <cp:revision>2301</cp:revision>
  <dcterms:created xsi:type="dcterms:W3CDTF">2010-04-09T07:36:15Z</dcterms:created>
  <dcterms:modified xsi:type="dcterms:W3CDTF">2026-04-30T09:04:01Z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